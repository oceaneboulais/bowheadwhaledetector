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3562"/>
  </p:normalViewPr>
  <p:slideViewPr>
    <p:cSldViewPr snapToGrid="0" snapToObjects="1">
      <p:cViewPr varScale="1">
        <p:scale>
          <a:sx n="78" d="100"/>
          <a:sy n="78" d="100"/>
        </p:scale>
        <p:origin x="204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059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detector paper's </a:t>
            </a:r>
            <a:r>
              <a:rPr dirty="0" err="1"/>
              <a:t>AE+kNN</a:t>
            </a:r>
            <a:r>
              <a:rPr dirty="0"/>
              <a:t> result (8:1 -&gt; 0.33-0.61:1 FP:TP) was validated on a ~250k labeled subset. For the classifier paper we want to make claims across the full 2.1M-event master database. Doing that credibly for a </a:t>
            </a:r>
            <a:r>
              <a:rPr dirty="0" err="1"/>
              <a:t>NeurIPS</a:t>
            </a:r>
            <a:r>
              <a:rPr dirty="0"/>
              <a:t>/IJCAI review means following established semi-supervised learning practice rather than ad hoc extrapolation. The four stages build on each other: stage 1 (</a:t>
            </a:r>
            <a:r>
              <a:rPr dirty="0" err="1"/>
              <a:t>embeddings+FAISS</a:t>
            </a:r>
            <a:r>
              <a:rPr dirty="0"/>
              <a:t>) is infrastructure everything else depends on; stage 2 turns 250k labels into weak </a:t>
            </a:r>
            <a:r>
              <a:rPr dirty="0" err="1"/>
              <a:t>labels+confidence</a:t>
            </a:r>
            <a:r>
              <a:rPr dirty="0"/>
              <a:t> for all 2.1M; stage 3 uses that confidence signal to pick what to manually review next; stage 4 answers the standing open question about site/year generalization. Emphasize: nothing here requires retraining the autoencoder from scratch -- we reuse the existing trained model as the embedding backbone throughout.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kNN</a:t>
            </a:r>
            <a:r>
              <a:rPr dirty="0"/>
              <a:t> cost per query is O(N*d); doing this for all N points (needed to build the k-NN graph for label propagation, or to score the whole unlabeled pool) is O(N^2*d). At N=250k that's already ~2e12 flops; at N=2.1M it's ~1.4e14 flops -- about 70x more work, and that's before accounting for the fact we'd want to do this repeatedly (each self-training round, each active-learning round). FAISS avoids this by building an index once: IVF partitions the embedding space into Voronoi cells via k-means, so a query only compares against the ~few cells nearest to it (controlled by </a:t>
            </a:r>
            <a:r>
              <a:rPr dirty="0" err="1"/>
              <a:t>nprobe</a:t>
            </a:r>
            <a:r>
              <a:rPr dirty="0"/>
              <a:t>) instead of all N points; PQ further compresses each residual vector into a small codebook index so distance computation is cheap and the whole index fits in RAM. HNSW is a graph-based alternative (small-world navigable graph) that tends to get very high recall (&gt;95%) with no training/quantization step, at the cost of a bit more memory per vector -- reasonable trade at only 32 dimensions. Practical plan: try HNSW first since it's simplest to reason about and our vectors are low-dimensional; fall back to IVF+PQ if index size becomes a problem at 2.1M scale. Concretely this week: reuse the already-trained autoencoder encoder, run it once over all 2.1M spectrograms in chunked batches, persist embeddings to a versioned array (not one file per event), build both index types, and check that FAISS's approximate neighbors reproduce the same miss-fraction/FDR numbers we already reported for the </a:t>
            </a:r>
            <a:r>
              <a:rPr dirty="0" err="1"/>
              <a:t>AE+kNN</a:t>
            </a:r>
            <a:r>
              <a:rPr dirty="0"/>
              <a:t> detector on the 250k labeled set -- this is the sanity check that de-risks switching to ANN before it touches anything downstream.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'treating every unreviewed event as unlabeled dead weight’ </a:t>
            </a:r>
            <a:r>
              <a:rPr lang="en-US" dirty="0"/>
              <a:t>issue -</a:t>
            </a:r>
            <a:r>
              <a:rPr dirty="0"/>
              <a:t> Label propagation gives a cheap, closed-form way to spread the 250k seed labels: think of it as a diffusion process on the k-NN graph -- labels 'flow' along high-similarity edges until the label distribution stabilizes, and the entropy of the resulting distribution at each node IS the confidence score for that event. Self-training (Pseudo-Label, Noisy Student) is a complementary, model-based route: instead of a graph diffusion, we literally retrain the classifier on its own confident predictions, optionally with the noise injection that makes Noisy Student more robust to compounding errors than naive self-training. Both routes are standard, citable practice, which matters for reviewer confidence. The active-learning step is where the confidence scores from propagation/self-training become actionable: instead of spot-checking randomly, uncertainty sampling flags events near the decision boundary (we already compute a </a:t>
            </a:r>
            <a:r>
              <a:rPr dirty="0" err="1"/>
              <a:t>kNN</a:t>
            </a:r>
            <a:r>
              <a:rPr dirty="0"/>
              <a:t> vote-fraction per event, so the 'near 0.75 threshold' events are uncertainty-sampled for free); core-set/BADGE additionally ensures we're not just reviewing 50 near-identical borderline </a:t>
            </a:r>
            <a:r>
              <a:rPr dirty="0" err="1"/>
              <a:t>airgun</a:t>
            </a:r>
            <a:r>
              <a:rPr dirty="0"/>
              <a:t> pulses, by selecting for diversity in embedding space too. Sequencing: build the k-NN graph and propagate labels first (needs the FAISS index from step 1); self-training can run in parallel or after, depending on how confident the propagation-only pseudo-labels look; active learning consumes whichever confidence signal we have to plan the next manual-review batch.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Prototypical networks: in the original paper, training is 'episodic' -- repeatedly sampl</a:t>
            </a:r>
            <a:r>
              <a:rPr lang="en-US" dirty="0"/>
              <a:t>ing</a:t>
            </a:r>
            <a:r>
              <a:rPr dirty="0"/>
              <a:t> a small support set and query set from the training classes to mimic the few-shot test condition. For us, the appealing part is that at TEST time it's non-parametric: take k labeled examples from the new site/year, average their embeddings per class to get a prototype vector, then classify any new event at that site by which prototype it's closest to (Euclidean or cosine distance), </a:t>
            </a:r>
            <a:r>
              <a:rPr dirty="0" err="1"/>
              <a:t>softmax</a:t>
            </a:r>
            <a:r>
              <a:rPr dirty="0"/>
              <a:t> over negative distances to get a calibrated confidence. This is very close to what we're already doing with </a:t>
            </a:r>
            <a:r>
              <a:rPr dirty="0" err="1"/>
              <a:t>AE+kNN</a:t>
            </a:r>
            <a:r>
              <a:rPr dirty="0"/>
              <a:t>, just formalized with class prototypes instead of raw neighbor voting, and explicitly designed for the low-label regime. </a:t>
            </a:r>
            <a:r>
              <a:rPr dirty="0" err="1"/>
              <a:t>SimCLR</a:t>
            </a:r>
            <a:r>
              <a:rPr dirty="0"/>
              <a:t> / contrastive pretraining is a separate, complementary idea about HOW we get the embedding space in the first place: instead of (or in addition to) the autoencoder's pixel-reconstruction loss, train with a contrastive loss that pulls together two augmented views of the same spectrogram (time/frequency masking, noise injection) and pushes apart different spectrograms in a batch (NT-</a:t>
            </a:r>
            <a:r>
              <a:rPr dirty="0" err="1"/>
              <a:t>Xent</a:t>
            </a:r>
            <a:r>
              <a:rPr dirty="0"/>
              <a:t> loss). </a:t>
            </a:r>
            <a:endParaRPr lang="en-US" dirty="0"/>
          </a:p>
          <a:p>
            <a:endParaRPr lang="en-US" dirty="0"/>
          </a:p>
          <a:p>
            <a:r>
              <a:rPr dirty="0"/>
              <a:t>The hypothesis is that this produces embeddings that care less about site-specific recording characteristics and more about the call itself, which should directly help the few-shot transfer test. Evaluation design to propose: pick one site/year to fully hold out (e.g. entirely exclude 2014 or a DASAR site not used in training), then simulate the few-shot scenario by giving the model only N examples from that held-out set and measuring how quickly performance approaches the fully-supervised ceiling as N grows -- N=0 is the zero-shot baseline (no adaptation at all, just apply the existing model), which is the most direct answer to the generalization question we've been asked about. </a:t>
            </a:r>
            <a:r>
              <a:rPr dirty="0" err="1"/>
              <a:t>Bermant</a:t>
            </a:r>
            <a:r>
              <a:rPr dirty="0"/>
              <a:t> et al. 2019 is worth mentioning by name since it's a close precedent: </a:t>
            </a:r>
            <a:r>
              <a:rPr dirty="0" err="1"/>
              <a:t>bioacoustic</a:t>
            </a:r>
            <a:r>
              <a:rPr dirty="0"/>
              <a:t> embeddings + small labeled sets, published in a serious venue, which pre-empts a reviewer objection that few-shot transfer is untested in this domain.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1005840"/>
          </a:xfrm>
          <a:prstGeom prst="rect">
            <a:avLst/>
          </a:prstGeom>
          <a:noFill/>
        </p:spPr>
        <p:txBody>
          <a:bodyPr wrap="square">
            <a:spAutoFit/>
          </a:bodyPr>
          <a:lstStyle/>
          <a:p>
            <a:pPr>
              <a:defRPr sz="1600" b="1">
                <a:solidFill>
                  <a:srgbClr val="126E82"/>
                </a:solidFill>
              </a:defRPr>
            </a:pPr>
            <a:r>
              <a:t>PLAN OVERVIEW</a:t>
            </a:r>
          </a:p>
          <a:p>
            <a:pPr>
              <a:defRPr sz="3000" b="1">
                <a:solidFill>
                  <a:srgbClr val="0B2A4A"/>
                </a:solidFill>
              </a:defRPr>
            </a:pPr>
            <a:r>
              <a:t>Scaling to the full 2.1M-event database</a:t>
            </a:r>
          </a:p>
        </p:txBody>
      </p:sp>
      <p:sp>
        <p:nvSpPr>
          <p:cNvPr id="3" name="Rectangle 2"/>
          <p:cNvSpPr/>
          <p:nvPr/>
        </p:nvSpPr>
        <p:spPr>
          <a:xfrm>
            <a:off x="457200" y="1234440"/>
            <a:ext cx="11247120" cy="38100"/>
          </a:xfrm>
          <a:prstGeom prst="rect">
            <a:avLst/>
          </a:prstGeom>
          <a:solidFill>
            <a:srgbClr val="126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5029200"/>
          </a:xfrm>
          <a:prstGeom prst="rect">
            <a:avLst/>
          </a:prstGeom>
          <a:noFill/>
        </p:spPr>
        <p:txBody>
          <a:bodyPr wrap="square">
            <a:spAutoFit/>
          </a:bodyPr>
          <a:lstStyle/>
          <a:p>
            <a:pPr>
              <a:spcAft>
                <a:spcPts val="1000"/>
              </a:spcAft>
              <a:defRPr sz="2000" b="1">
                <a:solidFill>
                  <a:srgbClr val="0B2A4A"/>
                </a:solidFill>
              </a:defRPr>
            </a:pPr>
            <a:r>
              <a:t>Goal: support classifier-paper claims across the full ~2.1M-event master database, not just our ~250k labeled subset</a:t>
            </a:r>
          </a:p>
          <a:p>
            <a:pPr>
              <a:spcAft>
                <a:spcPts val="1000"/>
              </a:spcAft>
              <a:defRPr sz="2000" b="1">
                <a:solidFill>
                  <a:srgbClr val="0B2A4A"/>
                </a:solidFill>
              </a:defRPr>
            </a:pPr>
            <a:r>
              <a:t>Four-stage plan, each stage reusing the trained autoencoder's 32-d latent space as the shared substrate:</a:t>
            </a:r>
          </a:p>
          <a:p>
            <a:pPr lvl="1">
              <a:spcAft>
                <a:spcPts val="600"/>
              </a:spcAft>
              <a:defRPr sz="1800" b="0">
                <a:solidFill>
                  <a:srgbClr val="444444"/>
                </a:solidFill>
              </a:defRPr>
            </a:pPr>
            <a:r>
              <a:t>1.  Embed + index  —  encode all 2.1M spectrograms once, store in a FAISS approximate-NN index (this week)</a:t>
            </a:r>
          </a:p>
          <a:p>
            <a:pPr lvl="1">
              <a:spcAft>
                <a:spcPts val="600"/>
              </a:spcAft>
              <a:defRPr sz="1800" b="0">
                <a:solidFill>
                  <a:srgbClr val="444444"/>
                </a:solidFill>
              </a:defRPr>
            </a:pPr>
            <a:r>
              <a:t>2.  Propagate / self-train  —  bridge 250k labeled → 2.1M via label propagation + pseudo-labeling</a:t>
            </a:r>
          </a:p>
          <a:p>
            <a:pPr lvl="1">
              <a:spcAft>
                <a:spcPts val="600"/>
              </a:spcAft>
              <a:defRPr sz="1800" b="0">
                <a:solidFill>
                  <a:srgbClr val="444444"/>
                </a:solidFill>
              </a:defRPr>
            </a:pPr>
            <a:r>
              <a:t>3.  Active learning  —  spend manual review budget on the most informative unlabeled events, not random ones</a:t>
            </a:r>
          </a:p>
          <a:p>
            <a:pPr lvl="1">
              <a:spcAft>
                <a:spcPts val="600"/>
              </a:spcAft>
              <a:defRPr sz="1800" b="0">
                <a:solidFill>
                  <a:srgbClr val="444444"/>
                </a:solidFill>
              </a:defRPr>
            </a:pPr>
            <a:r>
              <a:t>4.  Few-shot / zero-shot transfer  —  directly test generalization to new sites/years with a handful of labels</a:t>
            </a:r>
          </a:p>
          <a:p>
            <a:pPr>
              <a:spcAft>
                <a:spcPts val="1000"/>
              </a:spcAft>
              <a:defRPr sz="2000" b="1">
                <a:solidFill>
                  <a:srgbClr val="0B2A4A"/>
                </a:solidFill>
              </a:defRPr>
            </a:pPr>
            <a:r>
              <a:t>Underpinned by pipeline hygiene: chunked/checkpointed jobs, a versioned embedding store, data lineage</a:t>
            </a:r>
          </a:p>
          <a:p>
            <a:pPr>
              <a:spcAft>
                <a:spcPts val="1000"/>
              </a:spcAft>
              <a:defRPr sz="2000" b="1">
                <a:solidFill>
                  <a:srgbClr val="0B2A4A"/>
                </a:solidFill>
              </a:defRPr>
            </a:pPr>
            <a:r>
              <a:t>Why this framing: matches established semi-supervised / transfer-learning practice — needed so methodology holds up for NeurIPS / IJCAI review (both open for submission January 2027)</a:t>
            </a:r>
          </a:p>
        </p:txBody>
      </p:sp>
      <p:sp>
        <p:nvSpPr>
          <p:cNvPr id="5" name="TextBox 4"/>
          <p:cNvSpPr txBox="1"/>
          <p:nvPr/>
        </p:nvSpPr>
        <p:spPr>
          <a:xfrm>
            <a:off x="457200" y="6446520"/>
            <a:ext cx="11247120" cy="320040"/>
          </a:xfrm>
          <a:prstGeom prst="rect">
            <a:avLst/>
          </a:prstGeom>
          <a:noFill/>
        </p:spPr>
        <p:txBody>
          <a:bodyPr wrap="none">
            <a:spAutoFit/>
          </a:bodyPr>
          <a:lstStyle/>
          <a:p>
            <a:pPr>
              <a:defRPr sz="1100" i="1">
                <a:solidFill>
                  <a:srgbClr val="888888"/>
                </a:solidFill>
              </a:defRPr>
            </a:pPr>
            <a:r>
              <a:t>Slide 1 of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00219"/>
          </a:xfrm>
          <a:prstGeom prst="rect">
            <a:avLst/>
          </a:prstGeom>
          <a:noFill/>
        </p:spPr>
        <p:txBody>
          <a:bodyPr wrap="square">
            <a:spAutoFit/>
          </a:bodyPr>
          <a:lstStyle/>
          <a:p>
            <a:pPr>
              <a:defRPr sz="1600" b="1">
                <a:solidFill>
                  <a:srgbClr val="126E82"/>
                </a:solidFill>
              </a:defRPr>
            </a:pPr>
            <a:r>
              <a:rPr dirty="0"/>
              <a:t>MORE DETAIL</a:t>
            </a:r>
          </a:p>
          <a:p>
            <a:pPr>
              <a:defRPr sz="3000" b="1">
                <a:solidFill>
                  <a:srgbClr val="0B2A4A"/>
                </a:solidFill>
              </a:defRPr>
            </a:pPr>
            <a:r>
              <a:rPr dirty="0"/>
              <a:t>Step 1 detail: embeddings + FAISS retrieval</a:t>
            </a:r>
          </a:p>
        </p:txBody>
      </p:sp>
      <p:sp>
        <p:nvSpPr>
          <p:cNvPr id="3" name="Rectangle 2"/>
          <p:cNvSpPr/>
          <p:nvPr/>
        </p:nvSpPr>
        <p:spPr>
          <a:xfrm>
            <a:off x="457200" y="1234440"/>
            <a:ext cx="11247120" cy="38100"/>
          </a:xfrm>
          <a:prstGeom prst="rect">
            <a:avLst/>
          </a:prstGeom>
          <a:solidFill>
            <a:srgbClr val="126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5029200"/>
          </a:xfrm>
          <a:prstGeom prst="rect">
            <a:avLst/>
          </a:prstGeom>
          <a:noFill/>
        </p:spPr>
        <p:txBody>
          <a:bodyPr wrap="square">
            <a:spAutoFit/>
          </a:bodyPr>
          <a:lstStyle/>
          <a:p>
            <a:pPr>
              <a:spcAft>
                <a:spcPts val="1000"/>
              </a:spcAft>
              <a:defRPr sz="1700" b="1">
                <a:solidFill>
                  <a:srgbClr val="0B2A4A"/>
                </a:solidFill>
              </a:defRPr>
            </a:pPr>
            <a:r>
              <a:t>Why brute-force kNN breaks at 2.1M events</a:t>
            </a:r>
          </a:p>
          <a:p>
            <a:pPr lvl="1">
              <a:spcAft>
                <a:spcPts val="600"/>
              </a:spcAft>
              <a:defRPr sz="1500" b="0">
                <a:solidFill>
                  <a:srgbClr val="444444"/>
                </a:solidFill>
              </a:defRPr>
            </a:pPr>
            <a:r>
              <a:t>Our AE+kNN detector already does exact brute-force kNN over ~250k embeddings — fine at that scale</a:t>
            </a:r>
          </a:p>
          <a:p>
            <a:pPr lvl="1">
              <a:spcAft>
                <a:spcPts val="600"/>
              </a:spcAft>
              <a:defRPr sz="1500" b="0">
                <a:solidFill>
                  <a:srgbClr val="444444"/>
                </a:solidFill>
              </a:defRPr>
            </a:pPr>
            <a:r>
              <a:t>Graph-based steps (label propagation, active learning) need all-pairs neighbor search: cost scales as O(N²·d)</a:t>
            </a:r>
          </a:p>
          <a:p>
            <a:pPr lvl="1">
              <a:spcAft>
                <a:spcPts val="600"/>
              </a:spcAft>
              <a:defRPr sz="1500" b="0">
                <a:solidFill>
                  <a:srgbClr val="444444"/>
                </a:solidFill>
              </a:defRPr>
            </a:pPr>
            <a:r>
              <a:t>At N=2.1M, d=32: brute-force all-pairs search is ~10⁵–10⁶× more work than at 250k — infeasible</a:t>
            </a:r>
          </a:p>
          <a:p>
            <a:pPr>
              <a:spcAft>
                <a:spcPts val="1000"/>
              </a:spcAft>
              <a:defRPr sz="1700" b="1">
                <a:solidFill>
                  <a:srgbClr val="0B2A4A"/>
                </a:solidFill>
              </a:defRPr>
            </a:pPr>
            <a:r>
              <a:t>FAISS (Facebook AI Similarity Search): Johnson, Douze &amp; Jégou, “Billion-Scale Similarity Search with GPUs,” IEEE Trans. Big Data, 2021 (arXiv:1702.08734, 2017)</a:t>
            </a:r>
          </a:p>
          <a:p>
            <a:pPr lvl="1">
              <a:spcAft>
                <a:spcPts val="600"/>
              </a:spcAft>
              <a:defRPr sz="1500" b="0">
                <a:solidFill>
                  <a:srgbClr val="444444"/>
                </a:solidFill>
              </a:defRPr>
            </a:pPr>
            <a:r>
              <a:t>Approximate nearest-neighbor (ANN) search: sub-linear query time via index structures instead of exhaustive comparison</a:t>
            </a:r>
          </a:p>
          <a:p>
            <a:pPr lvl="1">
              <a:spcAft>
                <a:spcPts val="600"/>
              </a:spcAft>
              <a:defRPr sz="1500" b="0">
                <a:solidFill>
                  <a:srgbClr val="444444"/>
                </a:solidFill>
              </a:defRPr>
            </a:pPr>
            <a:r>
              <a:t>Index we'll use: IVF (inverted file, k-means coarse quantizer) + PQ (product quantization) — compresses each 32-d vector into a short code, 8–16× memory reduction, tunable recall/speed via nprobe</a:t>
            </a:r>
          </a:p>
          <a:p>
            <a:pPr lvl="1">
              <a:spcAft>
                <a:spcPts val="600"/>
              </a:spcAft>
              <a:defRPr sz="1500" b="0">
                <a:solidFill>
                  <a:srgbClr val="444444"/>
                </a:solidFill>
              </a:defRPr>
            </a:pPr>
            <a:r>
              <a:t>Alternative for our regime (32-d, 2.1M vectors, all-CPU): HNSW graph index — near-exact recall, no training step, good default if index build time isn't a bottleneck</a:t>
            </a:r>
          </a:p>
          <a:p>
            <a:pPr>
              <a:spcAft>
                <a:spcPts val="1000"/>
              </a:spcAft>
              <a:defRPr sz="1700" b="1">
                <a:solidFill>
                  <a:srgbClr val="0B2A4A"/>
                </a:solidFill>
              </a:defRPr>
            </a:pPr>
            <a:r>
              <a:t>This week's deliverable: encode all 2.1M spectrograms with the existing trained AE checkpoint (no retraining), build the index, and benchmark ANN vs. exact kNN on the labeled 250k to confirm it reproduces the paper's numbers</a:t>
            </a:r>
          </a:p>
        </p:txBody>
      </p:sp>
      <p:sp>
        <p:nvSpPr>
          <p:cNvPr id="5" name="TextBox 4"/>
          <p:cNvSpPr txBox="1"/>
          <p:nvPr/>
        </p:nvSpPr>
        <p:spPr>
          <a:xfrm>
            <a:off x="457200" y="6446520"/>
            <a:ext cx="11247120" cy="320040"/>
          </a:xfrm>
          <a:prstGeom prst="rect">
            <a:avLst/>
          </a:prstGeom>
          <a:noFill/>
        </p:spPr>
        <p:txBody>
          <a:bodyPr wrap="none">
            <a:spAutoFit/>
          </a:bodyPr>
          <a:lstStyle/>
          <a:p>
            <a:pPr>
              <a:defRPr sz="1100" i="1">
                <a:solidFill>
                  <a:srgbClr val="888888"/>
                </a:solidFill>
              </a:defRPr>
            </a:pPr>
            <a:r>
              <a:t>Slide 2 of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1005840"/>
          </a:xfrm>
          <a:prstGeom prst="rect">
            <a:avLst/>
          </a:prstGeom>
          <a:noFill/>
        </p:spPr>
        <p:txBody>
          <a:bodyPr wrap="square">
            <a:spAutoFit/>
          </a:bodyPr>
          <a:lstStyle/>
          <a:p>
            <a:pPr>
              <a:defRPr sz="1600" b="1">
                <a:solidFill>
                  <a:srgbClr val="126E82"/>
                </a:solidFill>
              </a:defRPr>
            </a:pPr>
            <a:r>
              <a:t>SEMI-SUPERVISED CORE</a:t>
            </a:r>
          </a:p>
          <a:p>
            <a:pPr>
              <a:defRPr sz="3000" b="1">
                <a:solidFill>
                  <a:srgbClr val="0B2A4A"/>
                </a:solidFill>
              </a:defRPr>
            </a:pPr>
            <a:r>
              <a:t>Steps 2–3: labeled → unlabeled bridge, then active learning</a:t>
            </a:r>
          </a:p>
        </p:txBody>
      </p:sp>
      <p:sp>
        <p:nvSpPr>
          <p:cNvPr id="3" name="Rectangle 2"/>
          <p:cNvSpPr/>
          <p:nvPr/>
        </p:nvSpPr>
        <p:spPr>
          <a:xfrm>
            <a:off x="457200" y="1234440"/>
            <a:ext cx="11247120" cy="38100"/>
          </a:xfrm>
          <a:prstGeom prst="rect">
            <a:avLst/>
          </a:prstGeom>
          <a:solidFill>
            <a:srgbClr val="126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5029200"/>
          </a:xfrm>
          <a:prstGeom prst="rect">
            <a:avLst/>
          </a:prstGeom>
          <a:noFill/>
        </p:spPr>
        <p:txBody>
          <a:bodyPr wrap="square">
            <a:spAutoFit/>
          </a:bodyPr>
          <a:lstStyle/>
          <a:p>
            <a:pPr>
              <a:spcAft>
                <a:spcPts val="1000"/>
              </a:spcAft>
              <a:defRPr sz="1600" b="1">
                <a:solidFill>
                  <a:srgbClr val="0B2A4A"/>
                </a:solidFill>
              </a:defRPr>
            </a:pPr>
            <a:r>
              <a:t>Label propagation (Zhu &amp; Ghahramani, 2002, “Learning from Labeled and Unlabeled Data with Label Propagation”)</a:t>
            </a:r>
          </a:p>
          <a:p>
            <a:pPr lvl="1">
              <a:spcAft>
                <a:spcPts val="600"/>
              </a:spcAft>
              <a:defRPr sz="1400" b="0">
                <a:solidFill>
                  <a:srgbClr val="444444"/>
                </a:solidFill>
              </a:defRPr>
            </a:pPr>
            <a:r>
              <a:t>Build a k-NN graph over all 2.1M embeddings (using the FAISS index); weight edges by embedding distance</a:t>
            </a:r>
          </a:p>
          <a:p>
            <a:pPr lvl="1">
              <a:spcAft>
                <a:spcPts val="600"/>
              </a:spcAft>
              <a:defRPr sz="1400" b="0">
                <a:solidFill>
                  <a:srgbClr val="444444"/>
                </a:solidFill>
              </a:defRPr>
            </a:pPr>
            <a:r>
              <a:t>Propagate the ~250k seed labels across the graph to a closed-form harmonic solution — gives every unlabeled event a soft label + implicit confidence</a:t>
            </a:r>
          </a:p>
          <a:p>
            <a:pPr>
              <a:spcAft>
                <a:spcPts val="1000"/>
              </a:spcAft>
              <a:defRPr sz="1600" b="1">
                <a:solidFill>
                  <a:srgbClr val="0B2A4A"/>
                </a:solidFill>
              </a:defRPr>
            </a:pPr>
            <a:r>
              <a:t>Self-training / pseudo-labeling as a complementary or follow-up bridge</a:t>
            </a:r>
          </a:p>
          <a:p>
            <a:pPr lvl="1">
              <a:spcAft>
                <a:spcPts val="600"/>
              </a:spcAft>
              <a:defRPr sz="1400" b="0">
                <a:solidFill>
                  <a:srgbClr val="444444"/>
                </a:solidFill>
              </a:defRPr>
            </a:pPr>
            <a:r>
              <a:t>Lee, 2013, “Pseudo-Label”: retrain on your own high-confidence predictions, iterate</a:t>
            </a:r>
          </a:p>
          <a:p>
            <a:pPr lvl="1">
              <a:spcAft>
                <a:spcPts val="600"/>
              </a:spcAft>
              <a:defRPr sz="1400" b="0">
                <a:solidFill>
                  <a:srgbClr val="444444"/>
                </a:solidFill>
              </a:defRPr>
            </a:pPr>
            <a:r>
              <a:t>Noisy Student (Xie et al., 2020, CVPR): teacher labels the unlabeled pool → student trains on labels + heavy augmentation/dropout noise → student becomes next teacher; repeat</a:t>
            </a:r>
          </a:p>
          <a:p>
            <a:pPr>
              <a:spcAft>
                <a:spcPts val="1000"/>
              </a:spcAft>
              <a:defRPr sz="1600" b="1">
                <a:solidFill>
                  <a:srgbClr val="0B2A4A"/>
                </a:solidFill>
              </a:defRPr>
            </a:pPr>
            <a:r>
              <a:t>Active learning turns the resulting confidence scores into a manual-review plan</a:t>
            </a:r>
          </a:p>
          <a:p>
            <a:pPr lvl="1">
              <a:spcAft>
                <a:spcPts val="600"/>
              </a:spcAft>
              <a:defRPr sz="1400" b="0">
                <a:solidFill>
                  <a:srgbClr val="444444"/>
                </a:solidFill>
              </a:defRPr>
            </a:pPr>
            <a:r>
              <a:t>Uncertainty sampling: flag events near the kNN vote-fraction decision boundary (our existing 0.75 threshold) — cheap, already available from step 1</a:t>
            </a:r>
          </a:p>
          <a:p>
            <a:pPr lvl="1">
              <a:spcAft>
                <a:spcPts val="600"/>
              </a:spcAft>
              <a:defRPr sz="1400" b="0">
                <a:solidFill>
                  <a:srgbClr val="444444"/>
                </a:solidFill>
              </a:defRPr>
            </a:pPr>
            <a:r>
              <a:t>Core-set (Sener &amp; Savarese, 2018) / BADGE (Ash et al., 2020): batch selection that balances uncertainty with embedding-space diversity, so review time isn't wasted on redundant near-duplicate events</a:t>
            </a:r>
          </a:p>
          <a:p>
            <a:pPr>
              <a:spcAft>
                <a:spcPts val="1000"/>
              </a:spcAft>
              <a:defRPr sz="1600" b="1">
                <a:solidFill>
                  <a:srgbClr val="0B2A4A"/>
                </a:solidFill>
              </a:defRPr>
            </a:pPr>
            <a:r>
              <a:t>Net effect: every one of the 2.1M events gets a weak label + confidence; the least-confident, most-diverse ones become the next manual-review batch</a:t>
            </a:r>
          </a:p>
        </p:txBody>
      </p:sp>
      <p:sp>
        <p:nvSpPr>
          <p:cNvPr id="5" name="TextBox 4"/>
          <p:cNvSpPr txBox="1"/>
          <p:nvPr/>
        </p:nvSpPr>
        <p:spPr>
          <a:xfrm>
            <a:off x="457200" y="6446520"/>
            <a:ext cx="11247120" cy="320040"/>
          </a:xfrm>
          <a:prstGeom prst="rect">
            <a:avLst/>
          </a:prstGeom>
          <a:noFill/>
        </p:spPr>
        <p:txBody>
          <a:bodyPr wrap="none">
            <a:spAutoFit/>
          </a:bodyPr>
          <a:lstStyle/>
          <a:p>
            <a:pPr>
              <a:defRPr sz="1100" i="1">
                <a:solidFill>
                  <a:srgbClr val="888888"/>
                </a:solidFill>
              </a:defRPr>
            </a:pPr>
            <a:r>
              <a:t>Slide 3 of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800219"/>
          </a:xfrm>
          <a:prstGeom prst="rect">
            <a:avLst/>
          </a:prstGeom>
          <a:noFill/>
        </p:spPr>
        <p:txBody>
          <a:bodyPr wrap="square">
            <a:spAutoFit/>
          </a:bodyPr>
          <a:lstStyle/>
          <a:p>
            <a:pPr>
              <a:defRPr sz="1600" b="1">
                <a:solidFill>
                  <a:srgbClr val="126E82"/>
                </a:solidFill>
              </a:defRPr>
            </a:pPr>
            <a:r>
              <a:rPr dirty="0"/>
              <a:t>MORE </a:t>
            </a:r>
            <a:r>
              <a:rPr lang="en-US" dirty="0"/>
              <a:t>DETAIL</a:t>
            </a:r>
            <a:endParaRPr dirty="0"/>
          </a:p>
          <a:p>
            <a:pPr>
              <a:defRPr sz="3000" b="1">
                <a:solidFill>
                  <a:srgbClr val="0B2A4A"/>
                </a:solidFill>
              </a:defRPr>
            </a:pPr>
            <a:r>
              <a:rPr dirty="0"/>
              <a:t>Step 4 detail: few-shot / zero-shot site &amp; year transfer</a:t>
            </a:r>
          </a:p>
        </p:txBody>
      </p:sp>
      <p:sp>
        <p:nvSpPr>
          <p:cNvPr id="3" name="Rectangle 2"/>
          <p:cNvSpPr/>
          <p:nvPr/>
        </p:nvSpPr>
        <p:spPr>
          <a:xfrm>
            <a:off x="457200" y="1234440"/>
            <a:ext cx="11247120" cy="38100"/>
          </a:xfrm>
          <a:prstGeom prst="rect">
            <a:avLst/>
          </a:prstGeom>
          <a:solidFill>
            <a:srgbClr val="126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5029200"/>
          </a:xfrm>
          <a:prstGeom prst="rect">
            <a:avLst/>
          </a:prstGeom>
          <a:noFill/>
        </p:spPr>
        <p:txBody>
          <a:bodyPr wrap="square">
            <a:spAutoFit/>
          </a:bodyPr>
          <a:lstStyle/>
          <a:p>
            <a:pPr>
              <a:spcAft>
                <a:spcPts val="1000"/>
              </a:spcAft>
              <a:defRPr sz="1500" b="1">
                <a:solidFill>
                  <a:srgbClr val="0B2A4A"/>
                </a:solidFill>
              </a:defRPr>
            </a:pPr>
            <a:r>
              <a:t>The open question: does a classifier trained on Sites 3/5 generalize to a new site or year without new labels?</a:t>
            </a:r>
          </a:p>
          <a:p>
            <a:pPr>
              <a:spcAft>
                <a:spcPts val="1000"/>
              </a:spcAft>
              <a:defRPr sz="1500" b="1">
                <a:solidFill>
                  <a:srgbClr val="0B2A4A"/>
                </a:solidFill>
              </a:defRPr>
            </a:pPr>
            <a:r>
              <a:t>Prototypical Networks (Snell, Swersky &amp; Zemel, 2017, NeurIPS)</a:t>
            </a:r>
          </a:p>
          <a:p>
            <a:pPr lvl="1">
              <a:spcAft>
                <a:spcPts val="600"/>
              </a:spcAft>
              <a:defRPr sz="1300" b="0">
                <a:solidFill>
                  <a:srgbClr val="444444"/>
                </a:solidFill>
              </a:defRPr>
            </a:pPr>
            <a:r>
              <a:t>Compute a “prototype” per class = mean embedding of a small support set (k=1, 5, 10, 20 labeled examples) from the new site/year</a:t>
            </a:r>
          </a:p>
          <a:p>
            <a:pPr lvl="1">
              <a:spcAft>
                <a:spcPts val="600"/>
              </a:spcAft>
              <a:defRPr sz="1300" b="0">
                <a:solidFill>
                  <a:srgbClr val="444444"/>
                </a:solidFill>
              </a:defRPr>
            </a:pPr>
            <a:r>
              <a:t>Classify new events by nearest prototype in embedding space (softmax over negative distances) — no gradient updates, no retraining needed</a:t>
            </a:r>
          </a:p>
          <a:p>
            <a:pPr lvl="1">
              <a:spcAft>
                <a:spcPts val="600"/>
              </a:spcAft>
              <a:defRPr sz="1300" b="0">
                <a:solidFill>
                  <a:srgbClr val="444444"/>
                </a:solidFill>
              </a:defRPr>
            </a:pPr>
            <a:r>
              <a:t>Directly reuses our existing AE embedding space; this is basically our AE+kNN detector, generalized to k-shot instead of full-database kNN</a:t>
            </a:r>
          </a:p>
          <a:p>
            <a:pPr>
              <a:spcAft>
                <a:spcPts val="1000"/>
              </a:spcAft>
              <a:defRPr sz="1500" b="1">
                <a:solidFill>
                  <a:srgbClr val="0B2A4A"/>
                </a:solidFill>
              </a:defRPr>
            </a:pPr>
            <a:r>
              <a:t>Contrastive pretraining, SimCLR-style (Chen et al., 2020, ICML)</a:t>
            </a:r>
          </a:p>
          <a:p>
            <a:pPr lvl="1">
              <a:spcAft>
                <a:spcPts val="600"/>
              </a:spcAft>
              <a:defRPr sz="1300" b="0">
                <a:solidFill>
                  <a:srgbClr val="444444"/>
                </a:solidFill>
              </a:defRPr>
            </a:pPr>
            <a:r>
              <a:t>Optionally replace/augment the AE's reconstruction loss with a contrastive (NT-Xent) loss over augmented spectrogram pairs</a:t>
            </a:r>
          </a:p>
          <a:p>
            <a:pPr lvl="1">
              <a:spcAft>
                <a:spcPts val="600"/>
              </a:spcAft>
              <a:defRPr sz="1300" b="0">
                <a:solidFill>
                  <a:srgbClr val="444444"/>
                </a:solidFill>
              </a:defRPr>
            </a:pPr>
            <a:r>
              <a:t>Goal: embeddings that are invariant to site-specific noise/gain characteristics, which should make the few-shot prototypes transfer better</a:t>
            </a:r>
          </a:p>
          <a:p>
            <a:pPr>
              <a:spcAft>
                <a:spcPts val="1000"/>
              </a:spcAft>
              <a:defRPr sz="1500" b="1">
                <a:solidFill>
                  <a:srgbClr val="0B2A4A"/>
                </a:solidFill>
              </a:defRPr>
            </a:pPr>
            <a:r>
              <a:t>Evaluation protocol: hold out one full site/year; sweep support-set size N ∈ {0 (zero-shot), 1, 5, 10, 20}; report accuracy/AUC vs. N against the zero-shot baseline</a:t>
            </a:r>
          </a:p>
          <a:p>
            <a:pPr>
              <a:spcAft>
                <a:spcPts val="1000"/>
              </a:spcAft>
              <a:defRPr sz="1500" b="1">
                <a:solidFill>
                  <a:srgbClr val="0B2A4A"/>
                </a:solidFill>
              </a:defRPr>
            </a:pPr>
            <a:r>
              <a:t>Literature grounding for reviewers: Stowell (2022), “Computational Bioacoustics with Deep Learning: A Review and Roadmap”; Bermant et al. (2019) on sperm whale codas — same embedding + few-shot framing already accepted in top bioacoustics venues</a:t>
            </a:r>
          </a:p>
        </p:txBody>
      </p:sp>
      <p:sp>
        <p:nvSpPr>
          <p:cNvPr id="5" name="TextBox 4"/>
          <p:cNvSpPr txBox="1"/>
          <p:nvPr/>
        </p:nvSpPr>
        <p:spPr>
          <a:xfrm>
            <a:off x="457200" y="6446520"/>
            <a:ext cx="11247120" cy="320040"/>
          </a:xfrm>
          <a:prstGeom prst="rect">
            <a:avLst/>
          </a:prstGeom>
          <a:noFill/>
        </p:spPr>
        <p:txBody>
          <a:bodyPr wrap="none">
            <a:spAutoFit/>
          </a:bodyPr>
          <a:lstStyle/>
          <a:p>
            <a:pPr>
              <a:defRPr sz="1100" i="1">
                <a:solidFill>
                  <a:srgbClr val="888888"/>
                </a:solidFill>
              </a:defRPr>
            </a:pPr>
            <a:r>
              <a:t>Slide 4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2026</Words>
  <Application>Microsoft Macintosh PowerPoint</Application>
  <PresentationFormat>Widescreen</PresentationFormat>
  <Paragraphs>55</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Boulais, Oceane</cp:lastModifiedBy>
  <cp:revision>3</cp:revision>
  <dcterms:created xsi:type="dcterms:W3CDTF">2013-01-27T09:14:16Z</dcterms:created>
  <dcterms:modified xsi:type="dcterms:W3CDTF">2026-09-03T20:00:29Z</dcterms:modified>
  <cp:category/>
</cp:coreProperties>
</file>